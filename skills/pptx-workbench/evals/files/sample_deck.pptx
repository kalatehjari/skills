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</c:f>
              <c:strCache>
                <c:ptCount val="2"/>
                <c:pt idx="0">
                  <c:v>Static</c:v>
                </c:pt>
                <c:pt idx="1">
                  <c:v>Seismic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1.32</c:v>
                </c:pt>
                <c:pt idx="1">
                  <c:v>1.08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Sheet1!$A$2:$A$3</c:f>
              <c:strCache>
                <c:ptCount val="2"/>
                <c:pt idx="0">
                  <c:v>Static</c:v>
                </c:pt>
                <c:pt idx="1">
                  <c:v>Seismic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1.5</c:v>
                </c:pt>
                <c:pt idx="1">
                  <c:v>1.2</c:v>
                </c:pt>
              </c:numCache>
            </c:numRef>
          </c:val>
        </c:ser>
        <c:dLbls>
          <c:numFmt formatCode="0.0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t>Factor of safety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site walkover on 12 August and the photos in Appendix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737360"/>
            <a:ext cx="10545775" cy="17373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Slope stability at Lot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566160"/>
            <a:ext cx="10545775" cy="914400"/>
          </a:xfrm>
        </p:spPr>
        <p:txBody>
          <a:bodyPr wrap="square" anchor="t" lIns="0" rIns="0">
            <a:noAutofit/>
          </a:bodyPr>
          <a:lstStyle/>
          <a:p>
            <a:pPr algn="l"/>
            <a:r>
              <a:rPr sz="2200">
                <a:solidFill>
                  <a:srgbClr val="E6E6E6"/>
                </a:solidFill>
                <a:latin typeface="Calibri"/>
              </a:rPr>
              <a:t>Site investigation findings and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6E6E6"/>
                </a:solidFill>
                <a:latin typeface="Calibri"/>
              </a:rPr>
              <a:t>R. Kalatehjari, GEOTECH-LAB  |  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94560"/>
            <a:ext cx="10362895" cy="12801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Calibri"/>
              </a:rPr>
              <a:t>Background</a:t>
            </a:r>
          </a:p>
        </p:txBody>
      </p:sp>
      <p:sp>
        <p:nvSpPr>
          <p:cNvPr id="3" name="Section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8229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Site and geology</a:t>
            </a:r>
          </a:p>
        </p:txBody>
      </p:sp>
      <p:sp>
        <p:nvSpPr>
          <p:cNvPr id="3" name="Title rule"/>
          <p:cNvSpPr/>
          <p:nvPr/>
        </p:nvSpPr>
        <p:spPr>
          <a:xfrm>
            <a:off x="548640" y="1161288"/>
            <a:ext cx="1097280" cy="38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"/>
          <p:cNvSpPr txBox="1"/>
          <p:nvPr/>
        </p:nvSpPr>
        <p:spPr>
          <a:xfrm>
            <a:off x="548640" y="1325880"/>
            <a:ext cx="11094415" cy="4892040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lvl="0" marL="342900" indent="-342900">
              <a:spcAft>
                <a:spcPts val="979"/>
              </a:spcAft>
              <a:buClr>
                <a:srgbClr val="1F3864"/>
              </a:buClr>
              <a:buFont typeface="Arial"/>
              <a:buChar char="•"/>
            </a:pPr>
            <a:r>
              <a:rPr sz="2800">
                <a:solidFill>
                  <a:srgbClr val="222222"/>
                </a:solidFill>
                <a:latin typeface="Calibri"/>
              </a:rPr>
              <a:t>Residual soils over weathered greywacke</a:t>
            </a:r>
          </a:p>
          <a:p>
            <a:pPr algn="l" lvl="1" marL="685800" indent="-342900">
              <a:spcAft>
                <a:spcPts val="875"/>
              </a:spcAft>
              <a:buClr>
                <a:srgbClr val="7F7F7F"/>
              </a:buClr>
              <a:buFont typeface="Arial"/>
              <a:buChar char="–"/>
            </a:pPr>
            <a:r>
              <a:rPr sz="2500">
                <a:solidFill>
                  <a:srgbClr val="222222"/>
                </a:solidFill>
                <a:latin typeface="Calibri"/>
              </a:rPr>
              <a:t>Silty clay to 3 m, then clayey silt</a:t>
            </a:r>
          </a:p>
          <a:p>
            <a:pPr algn="l" lvl="0" marL="342900" indent="-342900">
              <a:spcAft>
                <a:spcPts val="979"/>
              </a:spcAft>
              <a:buClr>
                <a:srgbClr val="1F3864"/>
              </a:buClr>
              <a:buFont typeface="Arial"/>
              <a:buChar char="•"/>
            </a:pPr>
            <a:r>
              <a:rPr sz="2800">
                <a:solidFill>
                  <a:srgbClr val="222222"/>
                </a:solidFill>
                <a:latin typeface="Calibri"/>
              </a:rPr>
              <a:t>Groundwater at </a:t>
            </a:r>
            <a:r>
              <a:rPr sz="2800" b="1">
                <a:solidFill>
                  <a:srgbClr val="222222"/>
                </a:solidFill>
                <a:latin typeface="Calibri"/>
              </a:rPr>
              <a:t>2.5 m</a:t>
            </a:r>
            <a:r>
              <a:rPr sz="2800">
                <a:solidFill>
                  <a:srgbClr val="222222"/>
                </a:solidFill>
                <a:latin typeface="Calibri"/>
              </a:rPr>
              <a:t> below ground level</a:t>
            </a:r>
          </a:p>
          <a:p>
            <a:pPr algn="l" lvl="0" marL="342900" indent="-342900">
              <a:spcAft>
                <a:spcPts val="979"/>
              </a:spcAft>
              <a:buClr>
                <a:srgbClr val="1F3864"/>
              </a:buClr>
              <a:buFont typeface="Arial"/>
              <a:buChar char="•"/>
            </a:pPr>
            <a:r>
              <a:rPr sz="2800">
                <a:solidFill>
                  <a:srgbClr val="222222"/>
                </a:solidFill>
                <a:latin typeface="Calibri"/>
              </a:rPr>
              <a:t>Existing timber wall shows </a:t>
            </a:r>
            <a:r>
              <a:rPr sz="2800" i="1">
                <a:solidFill>
                  <a:srgbClr val="222222"/>
                </a:solidFill>
                <a:latin typeface="Calibri"/>
              </a:rPr>
              <a:t>signs of rotation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8229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Investigation scope</a:t>
            </a:r>
          </a:p>
        </p:txBody>
      </p:sp>
      <p:sp>
        <p:nvSpPr>
          <p:cNvPr id="3" name="Title rule"/>
          <p:cNvSpPr/>
          <p:nvPr/>
        </p:nvSpPr>
        <p:spPr>
          <a:xfrm>
            <a:off x="548640" y="1161288"/>
            <a:ext cx="1097280" cy="38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"/>
          <p:cNvSpPr txBox="1"/>
          <p:nvPr/>
        </p:nvSpPr>
        <p:spPr>
          <a:xfrm>
            <a:off x="548640" y="1325880"/>
            <a:ext cx="11094415" cy="4892040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lvl="0" marL="342900" indent="-342900">
              <a:spcAft>
                <a:spcPts val="1050"/>
              </a:spcAft>
              <a:buClr>
                <a:srgbClr val="1F3864"/>
              </a:buClr>
              <a:buAutoNum type="arabicPeriod"/>
            </a:pPr>
            <a:r>
              <a:rPr sz="3000">
                <a:solidFill>
                  <a:srgbClr val="222222"/>
                </a:solidFill>
                <a:latin typeface="Calibri"/>
              </a:rPr>
              <a:t>Three boreholes to 8 m</a:t>
            </a:r>
          </a:p>
          <a:p>
            <a:pPr algn="l" lvl="0" marL="342900" indent="-342900">
              <a:spcAft>
                <a:spcPts val="1050"/>
              </a:spcAft>
              <a:buClr>
                <a:srgbClr val="1F3864"/>
              </a:buClr>
              <a:buAutoNum type="arabicPeriod"/>
            </a:pPr>
            <a:r>
              <a:rPr sz="3000">
                <a:solidFill>
                  <a:srgbClr val="222222"/>
                </a:solidFill>
                <a:latin typeface="Calibri"/>
              </a:rPr>
              <a:t>Six CPTs</a:t>
            </a:r>
          </a:p>
          <a:p>
            <a:pPr algn="l" lvl="0" marL="342900" indent="-342900">
              <a:spcAft>
                <a:spcPts val="1050"/>
              </a:spcAft>
              <a:buClr>
                <a:srgbClr val="1F3864"/>
              </a:buClr>
              <a:buAutoNum type="arabicPeriod"/>
            </a:pPr>
            <a:r>
              <a:rPr sz="3000">
                <a:solidFill>
                  <a:srgbClr val="222222"/>
                </a:solidFill>
                <a:latin typeface="Calibri"/>
              </a:rPr>
              <a:t>Laboratory testing: Atterberg limits, triaxial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94560"/>
            <a:ext cx="10362895" cy="12801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Calibri"/>
              </a:rPr>
              <a:t>Results</a:t>
            </a:r>
          </a:p>
        </p:txBody>
      </p:sp>
      <p:sp>
        <p:nvSpPr>
          <p:cNvPr id="3" name="Section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8229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Effective stress paths</a:t>
            </a:r>
          </a:p>
        </p:txBody>
      </p:sp>
      <p:sp>
        <p:nvSpPr>
          <p:cNvPr id="3" name="Title rule"/>
          <p:cNvSpPr/>
          <p:nvPr/>
        </p:nvSpPr>
        <p:spPr>
          <a:xfrm>
            <a:off x="548640" y="1161288"/>
            <a:ext cx="1097280" cy="38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Effective stress paths for BH1 samples" descr="Effective stress paths for BH1 samp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325880"/>
            <a:ext cx="7242048" cy="452628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F7F7F"/>
                </a:solidFill>
                <a:latin typeface="Calibri"/>
              </a:rPr>
              <a:t>Effective stress paths for BH1 samples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8229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Strength parameters</a:t>
            </a:r>
          </a:p>
        </p:txBody>
      </p:sp>
      <p:sp>
        <p:nvSpPr>
          <p:cNvPr id="3" name="Title rule"/>
          <p:cNvSpPr/>
          <p:nvPr/>
        </p:nvSpPr>
        <p:spPr>
          <a:xfrm>
            <a:off x="548640" y="1161288"/>
            <a:ext cx="1097280" cy="38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90341" y="1325880"/>
          <a:ext cx="58110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88"/>
                <a:gridCol w="1700784"/>
                <a:gridCol w="1559052"/>
                <a:gridCol w="127558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 marL="76200" marR="762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Depth (m)</a:t>
                      </a:r>
                    </a:p>
                  </a:txBody>
                  <a:tcPr marL="76200" marR="762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c' (kPa)</a:t>
                      </a:r>
                    </a:p>
                  </a:txBody>
                  <a:tcPr marL="76200" marR="762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φ' (°)</a:t>
                      </a:r>
                    </a:p>
                  </a:txBody>
                  <a:tcPr marL="76200" marR="762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BH1-S1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31.5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BH1-S2</a:t>
                      </a:r>
                    </a:p>
                  </a:txBody>
                  <a:tcPr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8.7</a:t>
                      </a:r>
                    </a:p>
                  </a:txBody>
                  <a:tcPr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33.0</a:t>
                      </a:r>
                    </a:p>
                  </a:txBody>
                  <a:tcPr marL="76200" marR="762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BH2-S1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8229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Factor of safety</a:t>
            </a:r>
          </a:p>
        </p:txBody>
      </p:sp>
      <p:sp>
        <p:nvSpPr>
          <p:cNvPr id="3" name="Title rule"/>
          <p:cNvSpPr/>
          <p:nvPr/>
        </p:nvSpPr>
        <p:spPr>
          <a:xfrm>
            <a:off x="548640" y="1161288"/>
            <a:ext cx="1097280" cy="38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"/>
          <p:cNvSpPr txBox="1"/>
          <p:nvPr/>
        </p:nvSpPr>
        <p:spPr>
          <a:xfrm>
            <a:off x="548640" y="1325880"/>
            <a:ext cx="11094415" cy="44577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 lvl="0" marL="0" indent="0">
              <a:spcAft>
                <a:spcPts val="630"/>
              </a:spcAft>
              <a:buNone/>
            </a:pPr>
            <a:r>
              <a:rPr sz="1800">
                <a:solidFill>
                  <a:srgbClr val="222222"/>
                </a:solidFill>
                <a:latin typeface="Calibri"/>
              </a:rPr>
              <a:t>Both cases are below the 1.5 target for permanent works.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63090"/>
          <a:ext cx="11094415" cy="435483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8229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Comparison</a:t>
            </a:r>
          </a:p>
        </p:txBody>
      </p:sp>
      <p:sp>
        <p:nvSpPr>
          <p:cNvPr id="3" name="Title rule"/>
          <p:cNvSpPr/>
          <p:nvPr/>
        </p:nvSpPr>
        <p:spPr>
          <a:xfrm>
            <a:off x="548640" y="1161288"/>
            <a:ext cx="1097280" cy="38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"/>
          <p:cNvSpPr txBox="1"/>
          <p:nvPr/>
        </p:nvSpPr>
        <p:spPr>
          <a:xfrm>
            <a:off x="548640" y="1325880"/>
            <a:ext cx="5364327" cy="4892040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lvl="0" marL="342900" indent="-342900">
              <a:spcAft>
                <a:spcPts val="1014"/>
              </a:spcAft>
              <a:buClr>
                <a:srgbClr val="1F3864"/>
              </a:buClr>
              <a:buFont typeface="Arial"/>
              <a:buChar char="•"/>
            </a:pPr>
            <a:r>
              <a:rPr sz="2900">
                <a:solidFill>
                  <a:srgbClr val="222222"/>
                </a:solidFill>
                <a:latin typeface="Calibri"/>
              </a:rPr>
              <a:t>Option A: deeper embedment</a:t>
            </a:r>
          </a:p>
          <a:p>
            <a:pPr algn="l" lvl="0" marL="342900" indent="-342900">
              <a:spcAft>
                <a:spcPts val="1014"/>
              </a:spcAft>
              <a:buClr>
                <a:srgbClr val="1F3864"/>
              </a:buClr>
              <a:buFont typeface="Arial"/>
              <a:buChar char="•"/>
            </a:pPr>
            <a:r>
              <a:rPr sz="2900">
                <a:solidFill>
                  <a:srgbClr val="222222"/>
                </a:solidFill>
                <a:latin typeface="Calibri"/>
              </a:rPr>
              <a:t>Option B: soil nails</a:t>
            </a:r>
          </a:p>
          <a:p>
            <a:pPr algn="l" lvl="0" marL="342900" indent="-342900">
              <a:spcAft>
                <a:spcPts val="1014"/>
              </a:spcAft>
              <a:buClr>
                <a:srgbClr val="1F3864"/>
              </a:buClr>
              <a:buFont typeface="Arial"/>
              <a:buChar char="•"/>
            </a:pPr>
            <a:r>
              <a:rPr sz="2900">
                <a:solidFill>
                  <a:srgbClr val="222222"/>
                </a:solidFill>
                <a:latin typeface="Calibri"/>
              </a:rPr>
              <a:t>Option C: rebuild as gravity wall</a:t>
            </a:r>
          </a:p>
        </p:txBody>
      </p:sp>
      <p:pic>
        <p:nvPicPr>
          <p:cNvPr id="5" name="Plan view" descr="Plan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325880"/>
            <a:ext cx="5364327" cy="335270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6278727" y="4724304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F7F7F"/>
                </a:solidFill>
                <a:latin typeface="Calibri"/>
              </a:rPr>
              <a:t>Plan view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822960"/>
          </a:xfrm>
        </p:spPr>
        <p:txBody>
          <a:bodyPr wrap="square" anchor="b" lIns="0" rIns="0">
            <a:no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Recommendation</a:t>
            </a:r>
          </a:p>
        </p:txBody>
      </p:sp>
      <p:sp>
        <p:nvSpPr>
          <p:cNvPr id="3" name="Title rule"/>
          <p:cNvSpPr/>
          <p:nvPr/>
        </p:nvSpPr>
        <p:spPr>
          <a:xfrm>
            <a:off x="548640" y="1161288"/>
            <a:ext cx="1097280" cy="38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ement"/>
          <p:cNvSpPr txBox="1"/>
          <p:nvPr/>
        </p:nvSpPr>
        <p:spPr>
          <a:xfrm>
            <a:off x="1005840" y="1325880"/>
            <a:ext cx="10180015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F3864"/>
                </a:solidFill>
                <a:latin typeface="Calibri"/>
              </a:rPr>
              <a:t>Increase wall embedment by 2 m and add drainage behind the wall.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71600"/>
            <a:ext cx="9997135" cy="3931920"/>
          </a:xfrm>
        </p:spPr>
        <p:txBody>
          <a:bodyPr wrap="square" anchor="ctr" lIns="0" rIns="0">
            <a:no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Questions?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Calibri"/>
              </a:rPr>
              <a:t>Lot 12 retaining wall — client briefing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Slope stability at Lot 12</dc:title>
  <dc:subject/>
  <dc:creator>R. Kalatehjari, GEOTECH-LAB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